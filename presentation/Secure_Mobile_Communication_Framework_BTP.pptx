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317" autoAdjust="0"/>
  </p:normalViewPr>
  <p:slideViewPr>
    <p:cSldViewPr snapToGrid="0">
      <p:cViewPr varScale="1">
        <p:scale>
          <a:sx n="96" d="100"/>
          <a:sy n="96" d="100"/>
        </p:scale>
        <p:origin x="17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presProps" Target="presProps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5" Type="http://schemas.openxmlformats.org/officeDocument/2006/relationships/theme" Target="theme/theme1.xml" /><Relationship Id="rId14" Type="http://schemas.openxmlformats.org/officeDocument/2006/relationships/viewProps" Target="viewProps.xml" /><Relationship Id="rId17" Type="http://schemas.openxmlformats.org/officeDocument/2006/relationships/slide" Target="slides/slide2.xml" /><Relationship Id="rId18" Type="http://schemas.openxmlformats.org/officeDocument/2006/relationships/slide" Target="slides/slide3.xml" /><Relationship Id="rId19" Type="http://schemas.openxmlformats.org/officeDocument/2006/relationships/slide" Target="slides/slide4.xml" /><Relationship Id="rId20" Type="http://schemas.openxmlformats.org/officeDocument/2006/relationships/slide" Target="slides/slide5.xml" /><Relationship Id="rId21" Type="http://schemas.openxmlformats.org/officeDocument/2006/relationships/slide" Target="slides/slide6.xml" /><Relationship Id="rId22" Type="http://schemas.openxmlformats.org/officeDocument/2006/relationships/slide" Target="slides/slide7.xml" /><Relationship Id="rId23" Type="http://schemas.openxmlformats.org/officeDocument/2006/relationships/slide" Target="slides/slide8.xml" /><Relationship Id="rId24" Type="http://schemas.openxmlformats.org/officeDocument/2006/relationships/slide" Target="slides/slide9.xml" /><Relationship Id="rId25" Type="http://schemas.openxmlformats.org/officeDocument/2006/relationships/slide" Target="slides/slide10.xml" /><Relationship Id="rId26" Type="http://schemas.openxmlformats.org/officeDocument/2006/relationships/slide" Target="slides/slide11.xml" /><Relationship Id="rId27" Type="http://schemas.openxmlformats.org/officeDocument/2006/relationships/slide" Target="slides/slide12.xml" /><Relationship Id="rId28" Type="http://schemas.openxmlformats.org/officeDocument/2006/relationships/slide" Target="slides/slide13.xml" /><Relationship Id="rId29" Type="http://schemas.openxmlformats.org/officeDocument/2006/relationships/slide" Target="slides/slide14.xml" /><Relationship Id="rId30" Type="http://schemas.openxmlformats.org/officeDocument/2006/relationships/slide" Target="slides/slide15.xml" /><Relationship Id="rId31" Type="http://schemas.openxmlformats.org/officeDocument/2006/relationships/slide" Target="slides/slide16.xml" /><Relationship Id="rId32" Type="http://schemas.openxmlformats.org/officeDocument/2006/relationships/slide" Target="slides/slide17.xml" /><Relationship Id="rId33" Type="http://schemas.openxmlformats.org/officeDocument/2006/relationships/slide" Target="slides/slide18.xml" /><Relationship Id="rId34" Type="http://schemas.openxmlformats.org/officeDocument/2006/relationships/slide" Target="slides/slide19.xml" /><Relationship Id="rId35" Type="http://schemas.openxmlformats.org/officeDocument/2006/relationships/slide" Target="slides/slide20.xml" /><Relationship Id="rId36" Type="http://schemas.openxmlformats.org/officeDocument/2006/relationships/slide" Target="slides/slide21.xml" /><Relationship Id="rId37" Type="http://schemas.openxmlformats.org/officeDocument/2006/relationships/slide" Target="slides/slide22.xml" /><Relationship Id="rId38" Type="http://schemas.openxmlformats.org/officeDocument/2006/relationships/slide" Target="slides/slide23.xml" /><Relationship Id="rId39" Type="http://schemas.openxmlformats.org/officeDocument/2006/relationships/slide" Target="slides/slide24.xml" /><Relationship Id="rId40" Type="http://schemas.openxmlformats.org/officeDocument/2006/relationships/slide" Target="slides/slide25.xml" /><Relationship Id="rId41" Type="http://schemas.openxmlformats.org/officeDocument/2006/relationships/slide" Target="slides/slide26.xml" /><Relationship Id="rId42" Type="http://schemas.openxmlformats.org/officeDocument/2006/relationships/slide" Target="slides/slide27.xml" /><Relationship Id="rId43" Type="http://schemas.openxmlformats.org/officeDocument/2006/relationships/slide" Target="slides/slide2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37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26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6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4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5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btp_architecture.png" /></Relationships>
</file>

<file path=ppt/slides/_rels/slide8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btp_registration.png" /></Relationships>
</file>

<file path=ppt/slides/_rels/slide9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10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crypto_ecdh_hkdf.png" /></Relationships>
</file>

<file path=ppt/slides/_rels/slide11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crypto_aes_gcm.png" /></Relationships>
</file>

<file path=ppt/slides/_rels/slide12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crypto_rsa_pss.png" /></Relationships>
</file>

<file path=ppt/slides/_rels/slide13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crypto_pbkdf2.png" /></Relationships>
</file>

<file path=ppt/slides/_rels/slide14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btp_workflow.png" /></Relationships>
</file>

<file path=ppt/slides/_rels/slide15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btp_attacks.png" /></Relationships>
</file>

<file path=ppt/slides/_rels/slide16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17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ui_dashboard.png" /><Relationship Id="rId5" Type="http://schemas.openxmlformats.org/officeDocument/2006/relationships/image" Target="../media/ui_login.png" /><Relationship Id="rId6" Type="http://schemas.openxmlformats.org/officeDocument/2006/relationships/image" Target="../media/ui_registration.png" /></Relationships>
</file>

<file path=ppt/slides/_rels/slide18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ui_secure_chat.png" /><Relationship Id="rId5" Type="http://schemas.openxmlformats.org/officeDocument/2006/relationships/image" Target="../media/ui_crypto_keys.png" /></Relationships>
</file>

<file path=ppt/slides/_rels/slide19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ui_activity_logs.png" /><Relationship Id="rId5" Type="http://schemas.openxmlformats.org/officeDocument/2006/relationships/image" Target="../media/ui_attack_menu.png" /></Relationships>
</file>

<file path=ppt/slides/_rels/slide20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result_eavesdropping.png" /><Relationship Id="rId5" Type="http://schemas.openxmlformats.org/officeDocument/2006/relationships/image" Target="../media/result_tampering.png" /><Relationship Id="rId6" Type="http://schemas.openxmlformats.org/officeDocument/2006/relationships/image" Target="../media/result_replay.png" /></Relationships>
</file>

<file path=ppt/slides/_rels/slide21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2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3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4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5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6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7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8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a14="http://schemas.microsoft.com/office/drawing/2010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z="4300"/>
              <a:t>Secure Mobile Communication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550"/>
              <a:t>Using Hybrid Cryptographic Techniques</a:t>
            </a:r>
          </a:p>
          <a:p>
            <a:pPr algn="ctr">
              <a:buNone/>
            </a:pPr>
            <a:r>
              <a:rPr lang="en-US" sz="1550"/>
              <a:t>M. Kavya Amrutha · 2023BCS0221</a:t>
            </a:r>
          </a:p>
          <a:p>
            <a:pPr algn="ctr">
              <a:buNone/>
            </a:pPr>
            <a:r>
              <a:rPr lang="en-US" sz="1550"/>
              <a:t>Harissh Ragav Dhamodaran · 2023BCD0059</a:t>
            </a:r>
          </a:p>
          <a:p>
            <a:pPr algn="ctr">
              <a:buNone/>
            </a:pPr>
            <a:r>
              <a:rPr lang="en-US" sz="1550"/>
              <a:t>A. Pranathi · 2023BCD0065</a:t>
            </a:r>
          </a:p>
          <a:p>
            <a:pPr algn="ctr">
              <a:buNone/>
            </a:pPr>
            <a:r>
              <a:rPr lang="en-US" sz="1550"/>
              <a:t>K. Neharika · 2023BCS0053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450"/>
              <a:t>Course Code: CSS411</a:t>
            </a:r>
          </a:p>
          <a:p>
            <a:pPr algn="ctr">
              <a:buNone/>
            </a:pPr>
            <a:r>
              <a:rPr lang="en-US" sz="1450"/>
              <a:t>Cryptography and Network Security</a:t>
            </a:r>
          </a:p>
        </p:txBody>
      </p:sp>
    </p:spTree>
    <p:extLst>
      <p:ext uri="{BB962C8B-B14F-4D97-AF65-F5344CB8AC3E}">
        <p14:creationId val="2525230462"/>
      </p:ext>
    </p:extLst>
  </p:cSld>
  <p:clrMapOvr>
    <a:masterClrMapping/>
  </p:clrMapOvr>
  <mc:AlternateContent>
    <mc:Choice Requires="p15">
      <p:transition spd="slow" p14:dur="45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2050"/>
              <a:t>Project context, objectives, and proposed approach</a:t>
            </a:r>
          </a:p>
          <a:p>
            <a:pPr lvl="0"/>
            <a:r>
              <a:rPr lang="en-US" sz="2050"/>
              <a:t>System architecture and cryptographic workflow</a:t>
            </a:r>
          </a:p>
          <a:p>
            <a:pPr lvl="0"/>
            <a:r>
              <a:rPr lang="en-US" sz="2050"/>
              <a:t>Implementation, interface, and attack demonstrations</a:t>
            </a:r>
          </a:p>
          <a:p>
            <a:pPr lvl="0"/>
            <a:r>
              <a:rPr lang="en-US" sz="2050"/>
              <a:t>Security findings, evidence quality, and next steps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800"/>
              <a:t>Communication channels may expose data to interception, modification, impersonation, or replay.</a:t>
            </a:r>
          </a:p>
          <a:p>
            <a:pPr lvl="0"/>
            <a:r>
              <a:rPr lang="en-US" sz="1800"/>
              <a:t>Protect message confidentiality and integrity with AES-256-GCM.</a:t>
            </a:r>
          </a:p>
          <a:p>
            <a:pPr lvl="0"/>
            <a:r>
              <a:rPr lang="en-US" sz="1800"/>
              <a:t>Establish a shared secret with ECDH; derive a session key with HKDF-SHA256.</a:t>
            </a:r>
          </a:p>
          <a:p>
            <a:pPr lvl="0"/>
            <a:r>
              <a:rPr lang="en-US" sz="1800"/>
              <a:t>Support signatures, password protection, freshness checks, and practical demonstrations through a desktop dashboard.</a:t>
            </a:r>
          </a:p>
          <a:p>
            <a:pPr lvl="0"/>
            <a:r>
              <a:rPr lang="en-US" sz="1800"/>
              <a:t>Project scope: Python/PySide6 prototype for a mobile-communication use case; native mobile deployment is future work.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&amp; 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950"/>
              <a:t>Baseline problem: plain or single-mechanism communication can leave identity, key establishment, integrity, and freshness unaddressed.</a:t>
            </a:r>
          </a:p>
          <a:p>
            <a:pPr lvl="0"/>
            <a:r>
              <a:rPr lang="en-US" sz="1950"/>
              <a:t>Proposed framework combines local account checks, ECDH/HKDF, AES-GCM, RSA signatures, counter checks, and a GUI attack simulator.</a:t>
            </a:r>
          </a:p>
          <a:p>
            <a:pPr lvl="0"/>
            <a:r>
              <a:rPr lang="en-US" sz="1950"/>
              <a:t>The contribution is an educational integration and demonstration, not a production-ready protocol or independent security evaluation.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Standards &amp; 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850"/>
              <a:t>NIST FIPS 197 defines AES; SP 800-38D specifies GCM authenticated encryption. [1], [2]</a:t>
            </a:r>
          </a:p>
          <a:p>
            <a:pPr lvl="0"/>
            <a:r>
              <a:rPr lang="en-US" sz="1850"/>
              <a:t>NIST FIPS 186-5 covers digital signatures; the project uses RSA-2048 with PSS/SHA-256. [3]</a:t>
            </a:r>
          </a:p>
          <a:p>
            <a:pPr lvl="0"/>
            <a:r>
              <a:rPr lang="en-US" sz="1850"/>
              <a:t>NIST SP 800-132 covers password-based key derivation; RFC 5869 defines HKDF. [4], [5]</a:t>
            </a:r>
          </a:p>
          <a:p>
            <a:pPr lvl="0"/>
            <a:r>
              <a:rPr lang="en-US" sz="1850"/>
              <a:t>The report cites standards and documentation, but does not include a formal comparison of prior communication systems.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Requirements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850"/>
              <a:t>Hardware: laptop or desktop, at least 4 GB RAM recommended, and a network interface for TCP.</a:t>
            </a:r>
          </a:p>
          <a:p>
            <a:pPr lvl="0"/>
            <a:r>
              <a:rPr lang="en-US" sz="1850"/>
              <a:t>Software: Python 3, PySide6, cryptography, TCP sockets, and Git/GitHub; the repository also provides pyproject.toml and uv.lock.</a:t>
            </a:r>
          </a:p>
          <a:p>
            <a:pPr lvl="0"/>
            <a:r>
              <a:rPr lang="en-US" sz="1850"/>
              <a:t>Method: separate interface/account, cryptography, client/server, and attack-simulation responsibilities.</a:t>
            </a:r>
          </a:p>
          <a:p>
            <a:pPr lvl="0"/>
            <a:r>
              <a:rPr lang="en-US" sz="1850"/>
              <a:t>No dataset is used; evaluation is based on cryptographic operations, protocol behavior, and GUI demonstrations.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  <p:pic>
        <p:nvPicPr>
          <p:cNvPr id="11" name="btp_architecture.png" descr="System architecture block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57400"/>
            <a:ext cx="10469880" cy="3108960"/>
          </a:xfrm>
          <a:prstGeom prst="rect">
            <a:avLst/>
          </a:prstGeom>
        </p:spPr>
      </p:pic>
      <p:sp>
        <p:nvSpPr>
          <p:cNvPr id="12" name="Figure Caption 1" descr="The interface connects to a TCP client/server path; cryptographic blocks protect message contents, while peer identity and transport protection remain separate concerns."/>
          <p:cNvSpPr/>
          <p:nvPr/>
        </p:nvSpPr>
        <p:spPr>
          <a:xfrm>
            <a:off x="868680" y="5239512"/>
            <a:ext cx="10469880" cy="566928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50">
                <a:solidFill>
                  <a:srgbClr val="54213F"/>
                </a:solidFill>
              </a:rPr>
              <a:t>The interface connects to a TCP client/server path; cryptographic blocks protect message contents, while peer identity and transport protection remain separate concerns.</a:t>
            </a:r>
            <a:endParaRPr lang="en-US" sz="10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Registration &amp;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5120" y="1874519"/>
            <a:ext cx="4617720" cy="4069080"/>
          </a:xfrm>
        </p:spPr>
        <p:txBody>
          <a:bodyPr>
            <a:normAutofit/>
          </a:bodyPr>
          <a:lstStyle/>
          <a:p>
            <a:pPr lvl="0"/>
            <a:r>
              <a:rPr lang="en-US" sz="1500"/>
              <a:t>GUI registration creates a random 16-byte salt and derives a SHA-256 PBKDF2 verifier with 100,000 iterations.</a:t>
            </a:r>
          </a:p>
          <a:p>
            <a:pPr lvl="0"/>
            <a:r>
              <a:rPr lang="en-US" sz="1500"/>
              <a:t>The account file stores the salt and derived hash; login recomputes and compares the verifier.</a:t>
            </a:r>
          </a:p>
          <a:p>
            <a:pPr lvl="0"/>
            <a:r>
              <a:rPr lang="en-US" sz="1500"/>
              <a:t>The current workspace auth.py was aligned with the GUI PBKDF2 record format; the supplied report PDF still describes the earlier mismatch.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  <p:pic>
        <p:nvPicPr>
          <p:cNvPr id="11" name="btp_registration.png" descr="Registration and login 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14600"/>
            <a:ext cx="5715000" cy="1673352"/>
          </a:xfrm>
          <a:prstGeom prst="rect">
            <a:avLst/>
          </a:prstGeom>
        </p:spPr>
      </p:pic>
      <p:sp>
        <p:nvSpPr>
          <p:cNvPr id="12" name="Figure Caption 1" descr="Registration stores a salted PBKDF2 verifier; login derives it again and compares the result."/>
          <p:cNvSpPr/>
          <p:nvPr/>
        </p:nvSpPr>
        <p:spPr>
          <a:xfrm>
            <a:off x="777240" y="4279392"/>
            <a:ext cx="5715000" cy="566928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50">
                <a:solidFill>
                  <a:srgbClr val="54213F"/>
                </a:solidFill>
              </a:rPr>
              <a:t>Registration stores a salted PBKDF2 verifier; login derives it again and compares the result.</a:t>
            </a:r>
            <a:endParaRPr lang="en-US" sz="10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700"/>
              <a:t>ECDH SECP256R1: client and server derive a 32-byte session key through HKDF-SHA256.</a:t>
            </a:r>
          </a:p>
          <a:p>
            <a:pPr lvl="0"/>
            <a:r>
              <a:rPr lang="en-US" sz="1700"/>
              <a:t>AES-256-GCM: random 12-byte nonce; ciphertext includes the authentication tag; no additional authenticated data is supplied.</a:t>
            </a:r>
          </a:p>
          <a:p>
            <a:pPr lvl="0"/>
            <a:r>
              <a:rPr lang="en-US" sz="1700"/>
              <a:t>RSA-2048/PSS with SHA-256: signature covers the textual counter, nonce, and ciphertext fields.</a:t>
            </a:r>
          </a:p>
          <a:p>
            <a:pPr lvl="0"/>
            <a:r>
              <a:rPr lang="en-US" sz="1700"/>
              <a:t>PBKDF2-HMAC-SHA256: password verifier uses a random salt and 100,000 iterations in the GUI code.</a:t>
            </a:r>
          </a:p>
          <a:p>
            <a:pPr lvl="0"/>
            <a:r>
              <a:rPr lang="en-US" sz="1700"/>
              <a:t>Key caveat: the server public key and client signing key are not bound to trusted identities.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9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ECDH + HKDF Key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1828800"/>
            <a:ext cx="5394960" cy="4160520"/>
          </a:xfrm>
        </p:spPr>
        <p:txBody>
          <a:bodyPr>
            <a:normAutofit/>
          </a:bodyPr>
          <a:lstStyle/>
          <a:p>
            <a:pPr lvl="0"/>
            <a:r>
              <a:rPr lang="en-US" sz="1350"/>
              <a:t>Both endpoints create an elliptic-curve key pair on P-256; private keys stay local while public keys are exchanged.</a:t>
            </a:r>
          </a:p>
          <a:p>
            <a:pPr lvl="0"/>
            <a:r>
              <a:rPr lang="en-US" sz="1350"/>
              <a:t>ECDH combines each endpoint’s private key with the peer’s public key to produce the same shared secret at both ends.</a:t>
            </a:r>
          </a:p>
          <a:p>
            <a:pPr lvl="0"/>
            <a:r>
              <a:rPr lang="en-US" sz="1350"/>
              <a:t>HKDF-SHA256 turns that secret into a 32-byte AES key using the fixed info label secure-mobile-communication; salt is None.</a:t>
            </a:r>
          </a:p>
          <a:p>
            <a:pPr lvl="0"/>
            <a:r>
              <a:rPr lang="en-US" sz="1350"/>
              <a:t>In this code, the client creates a new EC key pair for a send and the server key is process-scoped. The exchange is unauthenticated, so a network attacker could substitute keys.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10</a:t>
            </a:fld>
            <a:endParaRPr lang="en-US" sz="1600" dirty="0"/>
          </a:p>
        </p:txBody>
      </p:sp>
      <p:pic>
        <p:nvPicPr>
          <p:cNvPr id="11" name="crypto_ecdh_hkdf.png" descr="ECDH and HKDF key derivation 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38528"/>
            <a:ext cx="5074920" cy="3657600"/>
          </a:xfrm>
          <a:prstGeom prst="rect">
            <a:avLst/>
          </a:prstGeom>
        </p:spPr>
      </p:pic>
      <p:sp>
        <p:nvSpPr>
          <p:cNvPr id="12" name="Figure Caption 1" descr="Both sides derive the same session key; unauthenticated public-key exchange leaves room for key substitution."/>
          <p:cNvSpPr/>
          <p:nvPr/>
        </p:nvSpPr>
        <p:spPr>
          <a:xfrm>
            <a:off x="640080" y="5650992"/>
            <a:ext cx="5074920" cy="438912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50">
                <a:solidFill>
                  <a:srgbClr val="54213F"/>
                </a:solidFill>
              </a:rPr>
              <a:t>Both sides derive the same session key; unauthenticated public-key exchange leaves room for key substitution.</a:t>
            </a:r>
            <a:endParaRPr lang="en-US" sz="9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AES-256-GCM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1828800"/>
            <a:ext cx="5394960" cy="4160520"/>
          </a:xfrm>
        </p:spPr>
        <p:txBody>
          <a:bodyPr>
            <a:normAutofit/>
          </a:bodyPr>
          <a:lstStyle/>
          <a:p>
            <a:pPr lvl="0"/>
            <a:r>
              <a:rPr lang="en-US" sz="1300"/>
              <a:t>AES is a symmetric cipher: both sides use the same 32-byte session key. GCM combines encryption with an authentication tag.</a:t>
            </a:r>
          </a:p>
          <a:p>
            <a:pPr lvl="0"/>
            <a:r>
              <a:rPr lang="en-US" sz="1300"/>
              <a:t>For each message, the client generates a random 12-byte nonce. The packet carries the nonce and ciphertext; the library appends a 16-byte tag to the ciphertext bytes.</a:t>
            </a:r>
          </a:p>
          <a:p>
            <a:pPr lvl="0"/>
            <a:r>
              <a:rPr lang="en-US" sz="1300"/>
              <a:t>The receiver must use the same key and nonce. GCM verifies the tag before returning plaintext; altered ciphertext, nonce, or tag causes decryption failure.</a:t>
            </a:r>
          </a:p>
          <a:p>
            <a:pPr lvl="0"/>
            <a:r>
              <a:rPr lang="en-US" sz="1300"/>
              <a:t>No additional authenticated data (AAD) is supplied, so packet metadata is protected separately by the RSA signature rather than by GCM AAD.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11</a:t>
            </a:fld>
            <a:endParaRPr lang="en-US" sz="1600" dirty="0"/>
          </a:p>
        </p:txBody>
      </p:sp>
      <p:pic>
        <p:nvPicPr>
          <p:cNvPr id="11" name="crypto_aes_gcm.png" descr="AES-GCM encryption and authentication 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38528"/>
            <a:ext cx="5074920" cy="3657600"/>
          </a:xfrm>
          <a:prstGeom prst="rect">
            <a:avLst/>
          </a:prstGeom>
        </p:spPr>
      </p:pic>
      <p:sp>
        <p:nvSpPr>
          <p:cNvPr id="12" name="Figure Caption 1" descr="A fresh nonce and valid GCM tag are required to recover plaintext; the code supplies no AAD."/>
          <p:cNvSpPr/>
          <p:nvPr/>
        </p:nvSpPr>
        <p:spPr>
          <a:xfrm>
            <a:off x="640080" y="5650992"/>
            <a:ext cx="5074920" cy="438912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50">
                <a:solidFill>
                  <a:srgbClr val="54213F"/>
                </a:solidFill>
              </a:rPr>
              <a:t>A fresh nonce and valid GCM tag are required to recover plaintext; the code supplies no AAD.</a:t>
            </a:r>
            <a:endParaRPr lang="en-US" sz="9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RSA-PSS Signatures &amp; Replay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1828800"/>
            <a:ext cx="5394960" cy="4160520"/>
          </a:xfrm>
        </p:spPr>
        <p:txBody>
          <a:bodyPr>
            <a:normAutofit/>
          </a:bodyPr>
          <a:lstStyle/>
          <a:p>
            <a:pPr lvl="0"/>
            <a:r>
              <a:rPr lang="en-US" sz="1250"/>
              <a:t>The client generates a 2048-bit RSA key and signs UTF-8 text: counter | nonce-hex | ciphertext-hex.</a:t>
            </a:r>
          </a:p>
          <a:p>
            <a:pPr lvl="0"/>
            <a:r>
              <a:rPr lang="en-US" sz="1250"/>
              <a:t>The implementation uses RSA-PSS, MGF1-SHA256, SHA-256, and maximum-length PSS salt. The server verifies before replay checking and decryption.</a:t>
            </a:r>
          </a:p>
          <a:p>
            <a:pPr lvl="0"/>
            <a:r>
              <a:rPr lang="en-US" sz="1250"/>
              <a:t>The server keeps a per-user counter in memory. Each client reads the latest value during authentication and sends the next one; server restart clears the replay history.</a:t>
            </a:r>
          </a:p>
          <a:p>
            <a:pPr lvl="0"/>
            <a:r>
              <a:rPr lang="en-US" sz="1250"/>
              <a:t>The server verifies with the RSA public key supplied by that same client connection. This proves consistency with the supplied key, not who owns it; the signature also omits the username and ECDH transcript.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12</a:t>
            </a:fld>
            <a:endParaRPr lang="en-US" sz="1600" dirty="0"/>
          </a:p>
        </p:txBody>
      </p:sp>
      <p:pic>
        <p:nvPicPr>
          <p:cNvPr id="11" name="crypto_rsa_pss.png" descr="RSA-PSS signing and replay check 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38528"/>
            <a:ext cx="5074920" cy="3657600"/>
          </a:xfrm>
          <a:prstGeom prst="rect">
            <a:avLst/>
          </a:prstGeom>
        </p:spPr>
      </p:pic>
      <p:sp>
        <p:nvSpPr>
          <p:cNvPr id="12" name="Figure Caption 1" descr="The signature covers counter, nonce, and ciphertext; verification with an untrusted key does not establish sender identity."/>
          <p:cNvSpPr/>
          <p:nvPr/>
        </p:nvSpPr>
        <p:spPr>
          <a:xfrm>
            <a:off x="640080" y="5650992"/>
            <a:ext cx="5074920" cy="438912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50">
                <a:solidFill>
                  <a:srgbClr val="54213F"/>
                </a:solidFill>
              </a:rPr>
              <a:t>The signature covers counter, nonce, and ciphertext; verification with an untrusted key does not establish sender identity.</a:t>
            </a:r>
            <a:endParaRPr lang="en-US" sz="9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PBKDF2 Password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1828800"/>
            <a:ext cx="5394960" cy="4160520"/>
          </a:xfrm>
        </p:spPr>
        <p:txBody>
          <a:bodyPr>
            <a:normAutofit/>
          </a:bodyPr>
          <a:lstStyle/>
          <a:p>
            <a:pPr lvl="0"/>
            <a:r>
              <a:rPr lang="en-US" sz="1250"/>
              <a:t>Registration generates a random 16-byte salt and derives a 32-byte verifier with PBKDF2-HMAC-SHA256 and 100,000 iterations.</a:t>
            </a:r>
          </a:p>
          <a:p>
            <a:pPr lvl="0"/>
            <a:r>
              <a:rPr lang="en-US" sz="1250"/>
              <a:t>The local users.json record stores the salt and derived verifier, not the original password. A unique salt prevents identical passwords from having identical stored values.</a:t>
            </a:r>
          </a:p>
          <a:p>
            <a:pPr lvl="0"/>
            <a:r>
              <a:rPr lang="en-US" sz="1250"/>
              <a:t>At login, the application derives the verifier again from the entered password and stored salt, then compares it with the saved value.</a:t>
            </a:r>
          </a:p>
          <a:p>
            <a:pPr lvl="0"/>
            <a:r>
              <a:rPr lang="en-US" sz="1250"/>
              <a:t>This slows offline guessing if the account file is copied; it does not encrypt the password while it travels to the TCP server. The current auth.py now matches the GUI record format.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13</a:t>
            </a:fld>
            <a:endParaRPr lang="en-US" sz="1600" dirty="0"/>
          </a:p>
        </p:txBody>
      </p:sp>
      <p:pic>
        <p:nvPicPr>
          <p:cNvPr id="11" name="crypto_pbkdf2.png" descr="PBKDF2 registration and login 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38528"/>
            <a:ext cx="5074920" cy="3657600"/>
          </a:xfrm>
          <a:prstGeom prst="rect">
            <a:avLst/>
          </a:prstGeom>
        </p:spPr>
      </p:pic>
      <p:sp>
        <p:nvSpPr>
          <p:cNvPr id="12" name="Figure Caption 1" descr="A salted, iterated verifier supports local password checks; it does not protect credentials sent over plaintext TCP."/>
          <p:cNvSpPr/>
          <p:nvPr/>
        </p:nvSpPr>
        <p:spPr>
          <a:xfrm>
            <a:off x="640080" y="5650992"/>
            <a:ext cx="5074920" cy="438912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50">
                <a:solidFill>
                  <a:srgbClr val="54213F"/>
                </a:solidFill>
              </a:rPr>
              <a:t>A salted, iterated verifier supports local password checks; it does not protect credentials sent over plaintext TCP.</a:t>
            </a:r>
            <a:endParaRPr lang="en-US" sz="9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Secure Message Workflow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14</a:t>
            </a:fld>
            <a:endParaRPr lang="en-US" sz="1600" dirty="0"/>
          </a:p>
        </p:txBody>
      </p:sp>
      <p:pic>
        <p:nvPicPr>
          <p:cNvPr id="11" name="btp_workflow.png" descr="Secure message work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48840"/>
            <a:ext cx="10104120" cy="3209544"/>
          </a:xfrm>
          <a:prstGeom prst="rect">
            <a:avLst/>
          </a:prstGeom>
        </p:spPr>
      </p:pic>
      <p:sp>
        <p:nvSpPr>
          <p:cNvPr id="12" name="Figure Caption 1" descr="Intended sequence: authenticate, derive a key, encrypt and sign, verify, check the counter, then decrypt."/>
          <p:cNvSpPr/>
          <p:nvPr/>
        </p:nvSpPr>
        <p:spPr>
          <a:xfrm>
            <a:off x="960120" y="5413248"/>
            <a:ext cx="10104120" cy="457200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50">
                <a:solidFill>
                  <a:srgbClr val="54213F"/>
                </a:solidFill>
              </a:rPr>
              <a:t>Intended sequence: authenticate, derive a key, encrypt and sign, verify, check the counter, then decrypt.</a:t>
            </a:r>
            <a:endParaRPr lang="en-US" sz="10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 Demonstrations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15</a:t>
            </a:fld>
            <a:endParaRPr lang="en-US" sz="1600" dirty="0"/>
          </a:p>
        </p:txBody>
      </p:sp>
      <p:pic>
        <p:nvPicPr>
          <p:cNvPr id="11" name="btp_attacks.png" descr="Attack simulation over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103120"/>
            <a:ext cx="10012680" cy="3246120"/>
          </a:xfrm>
          <a:prstGeom prst="rect">
            <a:avLst/>
          </a:prstGeom>
        </p:spPr>
      </p:pic>
      <p:sp>
        <p:nvSpPr>
          <p:cNvPr id="12" name="Figure Caption 1" descr="The three scenarios illustrate the simulator’s UI; the result screenshots and following interpretation slide describe the observed behavior."/>
          <p:cNvSpPr/>
          <p:nvPr/>
        </p:nvSpPr>
        <p:spPr>
          <a:xfrm>
            <a:off x="1051560" y="5413248"/>
            <a:ext cx="10012680" cy="457200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50">
                <a:solidFill>
                  <a:srgbClr val="54213F"/>
                </a:solidFill>
              </a:rPr>
              <a:t>The three scenarios illustrate the simulator’s UI; the result screenshots and following interpretation slide describe the observed behavior.</a:t>
            </a:r>
            <a:endParaRPr lang="en-US" sz="105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750"/>
              <a:t>login.py / register.py — account windows, local PBKDF2 registration and login.</a:t>
            </a:r>
          </a:p>
          <a:p>
            <a:pPr lvl="0"/>
            <a:r>
              <a:rPr lang="en-US" sz="1750"/>
              <a:t>dashboard.py / pages.py — navigation, dashboard, chat, key information, logs, and simulator dialogs.</a:t>
            </a:r>
          </a:p>
          <a:p>
            <a:pPr lvl="0"/>
            <a:r>
              <a:rPr lang="en-US" sz="1750"/>
              <a:t>client.py / server.py — newline-delimited JSON over TCP; packet creation, signature/replay checks, decryption, and responses.</a:t>
            </a:r>
          </a:p>
          <a:p>
            <a:pPr lvl="0"/>
            <a:r>
              <a:rPr lang="en-US" sz="1750"/>
              <a:t>crypto_utils.py — P-256 ECDH, HKDF-SHA256, AES-GCM, RSA-PSS, and a separate SHA-256 helper.</a:t>
            </a:r>
          </a:p>
          <a:p>
            <a:pPr lvl="0"/>
            <a:r>
              <a:rPr lang="en-US" sz="1750"/>
              <a:t>auth.py — server-side account lookup; current workspace version reads the GUI PBKDF2 record format.</a:t>
            </a:r>
          </a:p>
          <a:p>
            <a:pPr lvl="0"/>
            <a:r>
              <a:rPr lang="en-US" sz="1750"/>
              <a:t>replay_protection.py — shared per-user counter policy used by the TCP server and console checks.</a:t>
            </a:r>
          </a:p>
          <a:p>
            <a:pPr lvl="0"/>
            <a:r>
              <a:rPr lang="en-US" sz="1750"/>
              <a:t>attacks.py / security_test.py — demonstration helpers and console checks; users.json stores local account records.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16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Interface: Login &amp; Dashboard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17</a:t>
            </a:fld>
            <a:endParaRPr lang="en-US" sz="1600" dirty="0"/>
          </a:p>
        </p:txBody>
      </p:sp>
      <p:pic>
        <p:nvPicPr>
          <p:cNvPr id="11" name="ui_dashboard.png" descr="Security Dashboard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874519"/>
            <a:ext cx="6629400" cy="4151376"/>
          </a:xfrm>
          <a:prstGeom prst="rect">
            <a:avLst/>
          </a:prstGeom>
        </p:spPr>
      </p:pic>
      <p:pic>
        <p:nvPicPr>
          <p:cNvPr id="12" name="ui_login.png" descr="Login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011680"/>
            <a:ext cx="1719072" cy="2176272"/>
          </a:xfrm>
          <a:prstGeom prst="rect">
            <a:avLst/>
          </a:prstGeom>
        </p:spPr>
      </p:pic>
      <p:pic>
        <p:nvPicPr>
          <p:cNvPr id="13" name="ui_registration.png" descr="Registration scre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011680"/>
            <a:ext cx="1783080" cy="2176272"/>
          </a:xfrm>
          <a:prstGeom prst="rect">
            <a:avLst/>
          </a:prstGeom>
        </p:spPr>
      </p:pic>
      <p:sp>
        <p:nvSpPr>
          <p:cNvPr id="14" name="Figure Caption 1" descr="Dashboard: status cards and activity entries are interface content, not proof of a verified live session."/>
          <p:cNvSpPr/>
          <p:nvPr/>
        </p:nvSpPr>
        <p:spPr>
          <a:xfrm>
            <a:off x="658368" y="1481328"/>
            <a:ext cx="6629400" cy="329184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50">
                <a:solidFill>
                  <a:srgbClr val="54213F"/>
                </a:solidFill>
              </a:rPr>
              <a:t>Dashboard: status cards and activity entries are interface content, not proof of a verified live session.</a:t>
            </a:r>
            <a:endParaRPr lang="en-US" sz="950"/>
          </a:p>
        </p:txBody>
      </p:sp>
      <p:sp>
        <p:nvSpPr>
          <p:cNvPr id="15" name="Figure Caption 2" descr="Login"/>
          <p:cNvSpPr/>
          <p:nvPr/>
        </p:nvSpPr>
        <p:spPr>
          <a:xfrm>
            <a:off x="7452360" y="1481328"/>
            <a:ext cx="1719072" cy="329184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00">
                <a:solidFill>
                  <a:srgbClr val="54213F"/>
                </a:solidFill>
              </a:rPr>
              <a:t>Login</a:t>
            </a:r>
            <a:endParaRPr lang="en-US" sz="900"/>
          </a:p>
        </p:txBody>
      </p:sp>
      <p:sp>
        <p:nvSpPr>
          <p:cNvPr id="16" name="Figure Caption 3" descr="Registration"/>
          <p:cNvSpPr/>
          <p:nvPr/>
        </p:nvSpPr>
        <p:spPr>
          <a:xfrm>
            <a:off x="9326880" y="1481328"/>
            <a:ext cx="1783080" cy="329184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00">
                <a:solidFill>
                  <a:srgbClr val="54213F"/>
                </a:solidFill>
              </a:rPr>
              <a:t>Registration</a:t>
            </a:r>
            <a:endParaRPr lang="en-US" sz="90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Interface: Chat &amp; Keys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18</a:t>
            </a:fld>
            <a:endParaRPr lang="en-US" sz="1600" dirty="0"/>
          </a:p>
        </p:txBody>
      </p:sp>
      <p:pic>
        <p:nvPicPr>
          <p:cNvPr id="11" name="ui_secure_chat.png" descr="Secure Chat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48840"/>
            <a:ext cx="5166360" cy="3227832"/>
          </a:xfrm>
          <a:prstGeom prst="rect">
            <a:avLst/>
          </a:prstGeom>
        </p:spPr>
      </p:pic>
      <p:pic>
        <p:nvPicPr>
          <p:cNvPr id="12" name="ui_crypto_keys.png" descr="Cryptographic Keys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148840"/>
            <a:ext cx="5166360" cy="3227832"/>
          </a:xfrm>
          <a:prstGeom prst="rect">
            <a:avLst/>
          </a:prstGeom>
        </p:spPr>
      </p:pic>
      <p:sp>
        <p:nvSpPr>
          <p:cNvPr id="13" name="Figure Caption 1" descr="Secure Chat form and displayed send result."/>
          <p:cNvSpPr/>
          <p:nvPr/>
        </p:nvSpPr>
        <p:spPr>
          <a:xfrm>
            <a:off x="713232" y="1600200"/>
            <a:ext cx="5166360" cy="384048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00">
                <a:solidFill>
                  <a:srgbClr val="54213F"/>
                </a:solidFill>
              </a:rPr>
              <a:t>Secure Chat form and displayed send result.</a:t>
            </a:r>
            <a:endParaRPr lang="en-US" sz="1000"/>
          </a:p>
        </p:txBody>
      </p:sp>
      <p:sp>
        <p:nvSpPr>
          <p:cNvPr id="14" name="Figure Caption 2" descr="Cryptographic Keys information screen."/>
          <p:cNvSpPr/>
          <p:nvPr/>
        </p:nvSpPr>
        <p:spPr>
          <a:xfrm>
            <a:off x="6263640" y="1600200"/>
            <a:ext cx="5166360" cy="384048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00">
                <a:solidFill>
                  <a:srgbClr val="54213F"/>
                </a:solidFill>
              </a:rPr>
              <a:t>Cryptographic Keys information screen.</a:t>
            </a:r>
            <a:endParaRPr lang="en-US" sz="100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Interface: Simulator &amp; Activity Logs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19</a:t>
            </a:fld>
            <a:endParaRPr lang="en-US" sz="1600" dirty="0"/>
          </a:p>
        </p:txBody>
      </p:sp>
      <p:pic>
        <p:nvPicPr>
          <p:cNvPr id="11" name="ui_activity_logs.png" descr="Activity Logs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84831"/>
            <a:ext cx="6583680" cy="3995928"/>
          </a:xfrm>
          <a:prstGeom prst="rect">
            <a:avLst/>
          </a:prstGeom>
        </p:spPr>
      </p:pic>
      <p:pic>
        <p:nvPicPr>
          <p:cNvPr id="12" name="ui_attack_menu.png" descr="Attack Simulator men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2167128"/>
            <a:ext cx="3703320" cy="3712463"/>
          </a:xfrm>
          <a:prstGeom prst="rect">
            <a:avLst/>
          </a:prstGeom>
        </p:spPr>
      </p:pic>
      <p:sp>
        <p:nvSpPr>
          <p:cNvPr id="13" name="Figure Caption 1" descr="Attack simulator controls."/>
          <p:cNvSpPr/>
          <p:nvPr/>
        </p:nvSpPr>
        <p:spPr>
          <a:xfrm>
            <a:off x="758952" y="1600200"/>
            <a:ext cx="3703320" cy="384048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00">
                <a:solidFill>
                  <a:srgbClr val="54213F"/>
                </a:solidFill>
              </a:rPr>
              <a:t>Attack simulator controls.</a:t>
            </a:r>
            <a:endParaRPr lang="en-US" sz="1000"/>
          </a:p>
        </p:txBody>
      </p:sp>
      <p:sp>
        <p:nvSpPr>
          <p:cNvPr id="14" name="Figure Caption 2" descr="Activity log view; entries are UI-reported events."/>
          <p:cNvSpPr/>
          <p:nvPr/>
        </p:nvSpPr>
        <p:spPr>
          <a:xfrm>
            <a:off x="4617720" y="1600200"/>
            <a:ext cx="6583680" cy="384048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1000">
                <a:solidFill>
                  <a:srgbClr val="54213F"/>
                </a:solidFill>
              </a:rPr>
              <a:t>Activity log view; entries are UI-reported events.</a:t>
            </a:r>
            <a:endParaRPr lang="en-US" sz="100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 Result Screenshots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20</a:t>
            </a:fld>
            <a:endParaRPr lang="en-US" sz="1600" dirty="0"/>
          </a:p>
        </p:txBody>
      </p:sp>
      <p:pic>
        <p:nvPicPr>
          <p:cNvPr id="11" name="result_eavesdropping.png" descr="Eavesdropping result shown by the current GU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423160"/>
            <a:ext cx="3383280" cy="3099816"/>
          </a:xfrm>
          <a:prstGeom prst="rect">
            <a:avLst/>
          </a:prstGeom>
        </p:spPr>
      </p:pic>
      <p:pic>
        <p:nvPicPr>
          <p:cNvPr id="12" name="result_tampering.png" descr="Tampering signature rejection shown by the current GU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2423160"/>
            <a:ext cx="3383280" cy="3063240"/>
          </a:xfrm>
          <a:prstGeom prst="rect">
            <a:avLst/>
          </a:prstGeom>
        </p:spPr>
      </p:pic>
      <p:pic>
        <p:nvPicPr>
          <p:cNvPr id="13" name="result_replay.png" descr="Replay counter rejection shown by the current GU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423160"/>
            <a:ext cx="3383280" cy="3063240"/>
          </a:xfrm>
          <a:prstGeom prst="rect">
            <a:avLst/>
          </a:prstGeom>
        </p:spPr>
      </p:pic>
      <p:sp>
        <p:nvSpPr>
          <p:cNvPr id="14" name="Figure Caption 1" descr="Eavesdropping: local packet display shows ciphertext, not plaintext."/>
          <p:cNvSpPr/>
          <p:nvPr/>
        </p:nvSpPr>
        <p:spPr>
          <a:xfrm>
            <a:off x="438912" y="1673352"/>
            <a:ext cx="3383280" cy="640080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00">
                <a:solidFill>
                  <a:srgbClr val="54213F"/>
                </a:solidFill>
              </a:rPr>
              <a:t>Eavesdropping: local packet display shows ciphertext, not plaintext.</a:t>
            </a:r>
            <a:endParaRPr lang="en-US" sz="900"/>
          </a:p>
        </p:txBody>
      </p:sp>
      <p:sp>
        <p:nvSpPr>
          <p:cNvPr id="15" name="Figure Caption 2" descr="Tampering: changed ciphertext no longer matches its signature; server returns SIGNATURE_INVALID."/>
          <p:cNvSpPr/>
          <p:nvPr/>
        </p:nvSpPr>
        <p:spPr>
          <a:xfrm>
            <a:off x="4407408" y="1673352"/>
            <a:ext cx="3383280" cy="640080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00">
                <a:solidFill>
                  <a:srgbClr val="54213F"/>
                </a:solidFill>
              </a:rPr>
              <a:t>Tampering: changed ciphertext no longer matches its signature; server returns SIGNATURE_INVALID.</a:t>
            </a:r>
            <a:endParaRPr lang="en-US" sz="900"/>
          </a:p>
        </p:txBody>
      </p:sp>
      <p:sp>
        <p:nvSpPr>
          <p:cNvPr id="16" name="Figure Caption 3" descr="Replay: duplicate counter is rejected; server returns REPLAY_ATTACK_DETECTED."/>
          <p:cNvSpPr/>
          <p:nvPr/>
        </p:nvSpPr>
        <p:spPr>
          <a:xfrm>
            <a:off x="8366760" y="1673352"/>
            <a:ext cx="3383280" cy="640080"/>
          </a:xfrm>
          <a:prstGeom prst="rect">
            <a:avLst/>
          </a:prstGeom>
          <a:noFill/>
        </p:spPr>
        <p:txBody>
          <a:bodyPr wrap="square" anchor="t" lIns="25000" rIns="25000" tIns="12000" bIns="0"/>
          <a:lstStyle/>
          <a:p>
            <a:pPr algn="l"/>
            <a:r>
              <a:rPr lang="en-US" sz="900">
                <a:solidFill>
                  <a:srgbClr val="54213F"/>
                </a:solidFill>
              </a:rPr>
              <a:t>Replay: duplicate counter is rejected; server returns REPLAY_ATTACK_DETECTED.</a:t>
            </a:r>
            <a:endParaRPr lang="en-US" sz="90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 Result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550"/>
              <a:t>Eavesdropping: the simulator displays the packet produced by the client and labels its contents protected; it does not sniff live network traffic.</a:t>
            </a:r>
          </a:p>
          <a:p>
            <a:pPr lvl="0"/>
            <a:r>
              <a:rPr lang="en-US" sz="1550"/>
              <a:t>Tampering: the simulator changes ciphertext but keeps the original signature. The authenticated server session rejects it with SIGNATURE_INVALID.</a:t>
            </a:r>
          </a:p>
          <a:p>
            <a:pPr lvl="0"/>
            <a:r>
              <a:rPr lang="en-US" sz="1550"/>
              <a:t>Replay: the simulator resubmits an accepted packet through the normal handshake. The server rejects its duplicate counter with REPLAY_ATTACK_DETECTED.</a:t>
            </a:r>
          </a:p>
          <a:p>
            <a:pPr lvl="0"/>
            <a:r>
              <a:rPr lang="en-US" sz="1550"/>
              <a:t>The tampering and replay outcomes are now tied to the corresponding server checks, and normal GUI messages advance their counters instead of reusing 1.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21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Review: Identity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750"/>
              <a:t>Client sends username and password as plaintext JSON over TCP; there is no TLS transport.</a:t>
            </a:r>
          </a:p>
          <a:p>
            <a:pPr lvl="0"/>
            <a:r>
              <a:rPr lang="en-US" sz="1750"/>
              <a:t>The server ECDH public key is returned without a certificate, signature, or pinning check, so the client cannot authenticate the server key.</a:t>
            </a:r>
          </a:p>
          <a:p>
            <a:pPr lvl="0"/>
            <a:r>
              <a:rPr lang="en-US" sz="1750"/>
              <a:t>The client supplies its own RSA public key on the same connection; it is not enrolled or bound to the username or ECDH transcript.</a:t>
            </a:r>
          </a:p>
          <a:p>
            <a:pPr lvl="0"/>
            <a:r>
              <a:rPr lang="en-US" sz="1750"/>
              <a:t>The signature can check packet integrity relative to that supplied key, but does not prove a trusted sender identity or non-repudiation.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22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Review: Replay &amp;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650"/>
              <a:t>Replay state is tracked per user in server memory and is lost on server restart; counters are committed only after authenticated decryption succeeds.</a:t>
            </a:r>
          </a:p>
          <a:p>
            <a:pPr lvl="0"/>
            <a:r>
              <a:rPr lang="en-US" sz="1650"/>
              <a:t>The client reads the server's latest counter during authentication and sends the next value, so repeated normal GUI messages work during the server process lifetime.</a:t>
            </a:r>
          </a:p>
          <a:p>
            <a:pPr lvl="0"/>
            <a:r>
              <a:rPr lang="en-US" sz="1650"/>
              <a:t>Tampering and replay demonstrations now perform authentication and key setup; altered signatures and duplicate counters reach their intended rejection checks.</a:t>
            </a:r>
          </a:p>
          <a:p>
            <a:pPr lvl="0"/>
            <a:r>
              <a:rPr lang="en-US" sz="1650"/>
              <a:t>TCP requests are limited to 1 MiB and each connection has a 10-second timeout. The server still handles clients sequentially, which limits concurrency.</a:t>
            </a:r>
          </a:p>
          <a:p>
            <a:pPr lvl="0"/>
            <a:r>
              <a:rPr lang="en-US" sz="1650"/>
              <a:t>Dashboard security badges and initial activity entries are static UI text, not proof that a session was established.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23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&amp; Reported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550"/>
              <a:t>security_test.py now runs eight isolated checks for PBKDF2 authentication, ECDH, AES-GCM, replay-counter ordering, and RSA-PSS; all eight passed in the current environment.</a:t>
            </a:r>
          </a:p>
          <a:p>
            <a:pPr lvl="0"/>
            <a:r>
              <a:rPr lang="en-US" sz="1550"/>
              <a:t>A localhost client/server check accepted two successive messages, rejected a tampered packet with SIGNATURE_INVALID, and rejected a repeated packet with REPLAY_ATTACK_DETECTED.</a:t>
            </a:r>
          </a:p>
          <a:p>
            <a:pPr lvl="0"/>
            <a:r>
              <a:rPr lang="en-US" sz="1550"/>
              <a:t>The tampering/replay helpers now complete authentication and key setup before submitting the captured packet, so the server's intended checks produce these results.</a:t>
            </a:r>
          </a:p>
          <a:p>
            <a:pPr lvl="0"/>
            <a:r>
              <a:rPr lang="en-US" sz="1550"/>
              <a:t>Eavesdropping remains a local ciphertext display, not a live packet capture. Dashboard status cards and initial activity entries also remain static UI content.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24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500"/>
              <a:t>Combines P-256 ECDH/HKDF, AES-GCM, RSA-PSS, and PBKDF2 in a navigable client/server demo; the GUI exposes account, message, key, and attack flows.</a:t>
            </a:r>
          </a:p>
          <a:p>
            <a:pPr lvl="0"/>
            <a:r>
              <a:rPr lang="en-US" sz="1500"/>
              <a:t>Credentials travel as plaintext JSON over TCP. The server ECDH key and client RSA signing key are not authenticated or bound to the account identity.</a:t>
            </a:r>
          </a:p>
          <a:p>
            <a:pPr lvl="0"/>
            <a:r>
              <a:rPr lang="en-US" sz="1500"/>
              <a:t>Replay state is per-user but in memory; it resets on server restart and is not persisted across sessions.</a:t>
            </a:r>
          </a:p>
          <a:p>
            <a:pPr lvl="0"/>
            <a:r>
              <a:rPr lang="en-US" sz="1500"/>
              <a:t>Eavesdropping is a packet display rather than wire capture; tampering and replay exercise signature and counter rejection through the normal handshake.</a:t>
            </a:r>
          </a:p>
          <a:p>
            <a:pPr lvl="0"/>
            <a:r>
              <a:rPr lang="en-US" sz="1500"/>
              <a:t>The server limits request size and connection wait time but handles clients sequentially, limiting concurrent use.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25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850"/>
              <a:t>Introduce authenticated peer identity with certificates or pinned keys; protect credentials in transit.</a:t>
            </a:r>
          </a:p>
          <a:p>
            <a:pPr lvl="0"/>
            <a:r>
              <a:rPr lang="en-US" sz="1850"/>
              <a:t>Protect credentials in transit, authenticate peer keys, persist replay state safely, and add concurrent request handling.</a:t>
            </a:r>
          </a:p>
          <a:p>
            <a:pPr lvl="0"/>
            <a:r>
              <a:rPr lang="en-US" sz="1850"/>
              <a:t>Support concurrent clients and stronger server-side account management; extend to native mobile platforms.</a:t>
            </a:r>
          </a:p>
          <a:p>
            <a:pPr lvl="0"/>
            <a:r>
              <a:rPr lang="en-US" sz="1850"/>
              <a:t>Add reproducible automated security tests, formal protocol analysis, and independent review.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26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850"/>
              <a:t>The prototype brings ECDH/HKDF, AES-GCM, RSA signatures, PBKDF2, and a PySide6 interface into one client/server demonstration.</a:t>
            </a:r>
          </a:p>
          <a:p>
            <a:pPr lvl="0"/>
            <a:r>
              <a:rPr lang="en-US" sz="1850"/>
              <a:t>Its educational value is in showing complementary controls and the need to validate how they are composed.</a:t>
            </a:r>
          </a:p>
          <a:p>
            <a:pPr lvl="0"/>
            <a:r>
              <a:rPr lang="en-US" sz="1850"/>
              <a:t>The identity and transport gaps remain important before making production security claims; the account format, normal counter flow, and attack checks now work consistently.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27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lvl="0"/>
            <a:r>
              <a:rPr lang="en-US" sz="1400"/>
              <a:t>[1] NIST, Advanced Encryption Standard (AES), FIPS PUB 197.</a:t>
            </a:r>
          </a:p>
          <a:p>
            <a:pPr lvl="0"/>
            <a:r>
              <a:rPr lang="en-US" sz="1400"/>
              <a:t>[2] NIST, Recommendation for Block Cipher Modes of Operation: GCM and GMAC, SP 800-38D.</a:t>
            </a:r>
          </a:p>
          <a:p>
            <a:pPr lvl="0"/>
            <a:r>
              <a:rPr lang="en-US" sz="1400"/>
              <a:t>[3] NIST, Digital Signature Standard (DSS), FIPS PUB 186-5.</a:t>
            </a:r>
          </a:p>
          <a:p>
            <a:pPr lvl="0"/>
            <a:r>
              <a:rPr lang="en-US" sz="1400"/>
              <a:t>[4] NIST, Recommendation for Password-Based Key Derivation, SP 800-132.</a:t>
            </a:r>
          </a:p>
          <a:p>
            <a:pPr lvl="0"/>
            <a:r>
              <a:rPr lang="en-US" sz="1400"/>
              <a:t>[5] H. Krawczyk and P. Eronen, HMAC-based Extract-and-Expand Key Derivation Function, RFC 5869.</a:t>
            </a:r>
          </a:p>
          <a:p>
            <a:pPr lvl="0"/>
            <a:r>
              <a:rPr lang="en-US" sz="1400"/>
              <a:t>[6] Python Cryptographic Authority, Python Cryptography Documentation.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28</a:t>
            </a:fld>
            <a:endParaRPr lang="en-US" sz="1600" dirty="0"/>
          </a:p>
        </p:txBody>
      </p:sp>
    </p:spTree>
    <p:extLst>
      <p:ext uri="{BB962C8B-B14F-4D97-AF65-F5344CB8AC3E}">
        <p14:creationId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253</Words>
  <Application>Microsoft Macintosh PowerPoint</Application>
  <PresentationFormat>Widescreen</PresentationFormat>
  <Paragraphs>70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Literature Review</vt:lpstr>
      <vt:lpstr>Motivation (Optional)</vt:lpstr>
      <vt:lpstr>Problem Statement</vt:lpstr>
      <vt:lpstr>Architecture</vt:lpstr>
      <vt:lpstr>Experimental Results</vt:lpstr>
      <vt:lpstr>Demonstration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Jeena Thomas</cp:lastModifiedBy>
  <cp:revision>286</cp:revision>
  <dcterms:created xsi:type="dcterms:W3CDTF">2021-08-20T07:15:07Z</dcterms:created>
  <dcterms:modified xsi:type="dcterms:W3CDTF">2026-09-24T08:22:39Z</dcterms:modified>
</cp:coreProperties>
</file>